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presenting the ALS Enterprise Platform — an operational command center designed specifically for managing large artificial lift fleets. Over the next 10 minutes, we will show how ALS bridges the gap between field-level SCADA instrumentation, downhole physics-based digital twins, and operational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lift accounts for the majority of production operating expenses in unconventional plays. Our platform directly solves the three core pain points: premature pump trips, fragmented monitoring data, and lack of real-time nodal physics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the architecture enforces strict separation of concerns. Admin users have total governance over device templates and permissions, while operational surveillance engineers have a streamlined, distraction-free surveillance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illustrates the primary operations viewport. 20 wells are actively streaming synthetic SCADA packets. Notice the 10 control-room KPI cards and the persistent well selector on the left, enabling seamless one-click telemetry drilldown.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SCADA Monitoring gives operators comprehensive visibility across the entire hydraulic circuit — from downhole intake and discharge to annulus casing pressures and surface flowline temperatures.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Digital Twin is not just a static picture. It runs a live hydraulic solver that recalculates total dynamic head, motor thermal dissipation, and dynamic fluid level when the operator adjusts the VFD frequency trim slider.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Operators can toggle seamlessly between the Downhole Wellbore and Surface Wellhead view. This allows surface operators to diagnose valve position anomalies or choke plugging alongside downhole pump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ESP Performance module features interactive multi-frequency H-Q curves that update live. Engineers can evaluate whether an ESP is operating near its Best Efficiency Point or entering dangerous upthrust/downthrust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ALS, operators stop guessing why equipment fails. The failure analytics engine tracks run-days, MTBF distributions, and manufacturer-specific failure rates across Baker Hughes, ChampionX, SLB, and Valiant.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Cable failures represent the single most expensive replacement cost in artificial lift operations. Our 8-stage Cable Shop tracking module establishes strict chain-of-custody and quality assurance from spool extraction to final invoice.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 Logistics ties surface response directly to well health. When a critical trip occurs on a well, the platform immediately identifies the closest qualified maintenance truck and issues a route-optimized work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time. In summary, ALS Enterprise delivers a unified, production-ready surveillance cockpit that empowers operators, reduces well downtime, and prolongs artificial lift run-life. We welcome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LIFT SUITE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Operations &amp; Surveillance Suite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Real-Time SCADA Telemetry, Downhole Digital Twin &amp; Reliability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solidFill>
            <a:srgbClr val="131E33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5720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Confidential Client Executive Briefing &amp; Technical Capability Demonstration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Prepared for Operations Leadership, Petroleum Engineering, and Surveillance Teams |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The Artificial Lift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Premature Failures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Downhole Blindness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struggle to detect impending gas locking, solids abrasion, and cable breakdown before severe mechanical failure occurs.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Disparate Systems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Data Fragmentation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surface and downhole pressures, temperatures, and motor harmonics reside in isolated silos with zero nodal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Operational Cockpit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unifies 20+ monitored wells, high-density gauge telemetry, physics solvers, and closed-loop work orders in a single viewport.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SECURITY &amp; RBAC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Dual-Role Architecture: Admin Governance vs. User Cockpit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User Management &amp; RBAC: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Role-based permissions for 7 distinct personas.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Device &amp; Modbus Tag Registry: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CRUD control over RTUs, VFD registers, and baud rates.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Asset Hierarchy Configuration: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Basin, field, pad, and downhole mechanical schematics.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Audit Trail &amp; Change Logs: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Immutable log of setpoint trims and alarm threshold edits.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&amp; USER COCKPIT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Real-Time Operations Dashboard: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 Control-Room KPIs, wells down triage, and fleet trends.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SCADA Dashboard: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 pressure/temp gauges, 7 multi-parameter trend families.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Digital Twin Interactive Views: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Downhole wellbore cross-section and surface tree telemetry.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8-Stage Cable Shop Workflow: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Inspection, Hi-Pot testing, spooling, shipment, and invoicing.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DASHBOARD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Surveillance &amp; 20-Well Monitored Fleet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Monitored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Permian &amp; Eagle Ford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80360" y="164592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Running Nominally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18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1752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90% Operating Uptime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Wells Down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</a:rPr>
              <a:t>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6636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Trips Triage Queue Active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78040" y="164592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Cycling Wells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Intermittent / POC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326880" y="1645920"/>
            <a:ext cx="19659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Production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20574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14,320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46404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BPD Gross Fluid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" y="3383280"/>
            <a:ext cx="1060704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PERSISTENT TWO-COLUMN CONTROL ROOM WORKSPACE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4023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Left-Hand Asset Selector: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Categorizes wells into Running, Warning/Threat, Down, and No Communication with live sparklines and search.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Selected Well Banner: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Selecting a well immediately locks the right-hand workspace to that well across SCADA, Digital Twin, ESP curves, and Alarms.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Field Intervention Queue: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Integrated dispatch crew, trip acknowledgment, and soft-start ramp triggers for rapid recovery.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SCADA INSTRUMENTATION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SCADA Monitoring: 10 Critical Gauges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THP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Tubing Head Pressure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284 psi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Imperial / Metric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80360" y="164592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FLP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Flowline Pressure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115 psi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1752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Manifold Header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0" y="164592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A-ANN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A-Annulus Pressure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714 psi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Sealed Casing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78040" y="164592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B-ANN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B-Annulus Pressure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0.0 psi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Surface Vent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326880" y="164592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1783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64040" y="2057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Pump Intake Pressure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46404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840 psi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64040" y="3017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Phoenix Sensor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384048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977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PDP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Pump Discharge Pressure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2,950 psi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5212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182 Pump Stages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80360" y="384048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977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MOT-T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Motor Temperature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1752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198 °F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017520" y="5212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Max Trip: 250°F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0" y="384048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977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INT-T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Intake Fluid Temp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172 °F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166360" y="5212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Reservoir Fluid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178040" y="384048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3977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FL-T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Flowline Temp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112 °F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315200" y="5212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Surface Flow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326880" y="3840480"/>
            <a:ext cx="196596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64040" y="3977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BATT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464040" y="4251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RTU Battery Voltage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64040" y="47091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24.2 V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464040" y="5212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Solar Float DC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Physics-Based Digital Twin: Downhole Wellbore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DOWNHOLE ESP SCHEMATIC &amp; PHYSICS SOLVER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5669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Dynamic Wellbore Fluid Level: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Simulates fluid column drawdown as VFD frequency changes.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Multi-Stage Mechanical String: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Phoenix Sensor Pod (11,480 ft) -&gt; Submersible PMM Motor (240 HP) -&gt; Protector/Seal Chamber -&gt; Gas Separator -&gt; Centrifugal Pump (182 stages) -&gt; Discharge Head.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Real-Time Nodal Pressure Callouts: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Overlay of measured PIP, PDP, and thermal gradient directly on downhole elements.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Wear &amp; Degradation Index: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Calculates cumulative sand erosion, bearing fatigue, and motor insulation loss.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23760" y="1645920"/>
            <a:ext cx="4114800" cy="4389120"/>
          </a:xfrm>
          <a:prstGeom prst="rect">
            <a:avLst/>
          </a:prstGeom>
          <a:solidFill>
            <a:srgbClr val="131E33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DIGITAL TWIN SPECIFICATIONS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219456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Well: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Phantom State 104-2H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True Vertical Depth: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11,480 ft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Motor Rating: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240 HP / 3,850 V / 52 A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Pump Model: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Baker Hughes Flex31 (182 stg)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Cable String: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Monel Armor #4 AWG Flat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Affinity Law Solver: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Head ~ (f/f0)², Q ~ (f/f0)
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Telemetry Sync: </a:t>
            </a:r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</a:rPr>
              <a:t>100% Synchronous SCADA Link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FACILITY SURVEILLANCE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Twin: Surface Wellhead &amp; Christmas Tree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CHRISTMAS TREE &amp; MANIFOLD INSTRUMENTATION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Crown / Swab Valve: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Allows lubricator wireline access for acoustic fluid shots with pressure interlock verification.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Master Valves (Upper/Lower):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1546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Full-bore isolation of production tubing with emergency shutdown (ESD) actuator link.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Production Wing &amp; Choke: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8404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Adjustable bean choke calibrated to flowline pressure with orifice differential pressure tracking.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Annulus A &amp; B Monitoring Ports: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4526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Casing head pressure transmitters detecting packer leaks or annular fluid accumulation.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Flowline Pressure &amp; Temp: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5212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Downstream manifold sensors verifying uninhibited flow to central gathering battery.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 Performance Analytics: H-Q Curves &amp; Sizing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MULTI-FREQUENCY H-Q PUMP CURVES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Affinity Laws Modeling (35 Hz to 75 Hz):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Curves dynamically model pump performance across the entire VFD operating envelope.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Best Efficiency Point (BEP) Envelope: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Clear green highlighted operating zone preventing both downthrust (&lt;1,200 BPD) and upthrust (&gt;2,800 BPD).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Real-Time Operating Dot: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Superimposes current measured BPD and head against the active frequency curve in real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INTEGRATED ESP SIZING &amp; IPR CALCULATOR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Vogel IPR Inflow Drawdown: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Calculates maximum potential flow rate (Qmax) and required bottomhole flowing pressure (Pwf).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Engineering Sizing Request Form: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Operators submit design rate (BPD), target TDH, casing clearance, and fluid PVT properties.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Automated Bill of Materials (BOM):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Generates equipment requisition strings for Baker Hughes, ChampionX, SLB, and Valiant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(RCFA)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Intelligence &amp; Failure Pareto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PARETO DISTRIBUTION &amp; FLEET MTBF BENCHMARKS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#1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Gas Locking / Gas Slugging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31%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Vortex gas separator optimization &amp; intake pressure setpoint trim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#2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Sand &amp; Solids Erosion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SandGuard protector and ceramic radial bearings installed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37490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#3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Electrical / MLE Breakdown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749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19%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749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Cable shop Hi-Pot inspection and Monel heavy armor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#4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 / Paraffin Deposition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434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14%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4434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Continuous capillary chemical injection and periodic solvent wash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#5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Mechanical Bearing Fatigue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5120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Real-time vibration FFT threshold trip protection (&lt;0.50 G)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REPAIR &amp; LIFECYCLE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Cable Shop 8-Stage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Equipment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Cable reel and MLE pulled from well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Cable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DC Hi-Pot 15kV &amp; insulation megohmmeter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Cut damaged sections, armor dressing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64592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1783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Spliced 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2560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Verify vulcanized splice under load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868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Shipment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Banded to spool, weather shrink wrap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84048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Shipped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Dispatched on flatbed truck to pad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Warehouse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Receival receipt &amp; yard inventory log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3840480"/>
            <a:ext cx="25146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STAGE 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Invoicing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0" y="4754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Automated invoice generation &amp; sign-off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SERVICE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Fleet Logistics &amp; Route Replay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REAL-TIME TELEMATICS, WORK ORDERS &amp; FUEL AUDITING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Interactive GPS Basin Map: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377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Live truck tracking with speed, ETA, and distance to destination well pad.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Route Replay Simulation: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3063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Timeline playback of historical service calls with idle-time tracking and geo-fencing.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Driver HOS &amp; Fatigue Compliance: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749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DOT Hours-of-Service monitoring with automatic shift limit alerts and break scheduling.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Fuel Transaction &amp; Anomaly Audits: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4434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Detects tank capacity exceedances and off-route fuel card purchases in real time.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• Work Order Auto-Dispatch: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5120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Automatically matches the nearest available crew truck to high-severity well alarms.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VALUE &amp;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Impact &amp; Implementation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SIMULATED DATA — Telemetry is synthetic and not connected to physical oilfield equipment.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ENTERPRISE v2.8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Phase 1: Pilot Deployment (Weeks 1-4)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Connect 20 pilot wells via Modbus/OPC-UA edge gateway to ALS cloud platform.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Phase 2: Digital Twin Tuning (Weeks 5-8)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Calibrate downhole inflow performance and motor thermal curves using historical pull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2918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Phase 3: Closed-Loop Automation (Weeks 9-12)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Activate autonomous VFD frequency trim rules and automated cable shop lifecycle.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Artificial Lift Suite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ALS Enterprise — Artificial Lift Operations &amp; Surveillance Suite</dc:title>
  <dc:subject>ALS Enterprise Platform Architecture &amp; Surveillance Presentation</dc:subject>
  <dc:creator>ALS Enterprise Operations</dc:creator>
  <cp:lastModifiedBy>ALS Enterprise Operations</cp:lastModifiedBy>
  <cp:revision>1</cp:revision>
  <dcterms:created xsi:type="dcterms:W3CDTF">2026-10-28T14:24:45Z</dcterms:created>
  <dcterms:modified xsi:type="dcterms:W3CDTF">2026-10-28T14:24:45Z</dcterms:modified>
</cp:coreProperties>
</file>